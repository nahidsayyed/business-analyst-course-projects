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8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12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49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603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6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74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964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399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05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118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9168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459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1595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34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346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49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B9896-F3CE-4B11-8683-E7F3253D9472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BAC57CC-0A95-4F81-909A-175BED200B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749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A068-9F5B-3CD3-B2BF-04F5618F7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79" y="2143432"/>
            <a:ext cx="8251234" cy="1956620"/>
          </a:xfrm>
        </p:spPr>
        <p:txBody>
          <a:bodyPr/>
          <a:lstStyle/>
          <a:p>
            <a:pPr algn="l"/>
            <a:br>
              <a:rPr lang="en-IN" dirty="0"/>
            </a:br>
            <a:br>
              <a:rPr lang="en-IN" dirty="0"/>
            </a:br>
            <a:r>
              <a:rPr lang="en-US" dirty="0"/>
              <a:t> </a:t>
            </a:r>
            <a:r>
              <a:rPr lang="en-US" sz="4000" b="1" dirty="0">
                <a:solidFill>
                  <a:schemeClr val="accent4"/>
                </a:solidFill>
                <a:latin typeface="Arial Rounded MT Bold" panose="020F0704030504030204" pitchFamily="34" charset="0"/>
              </a:rPr>
              <a:t>Flipkart Customer Segmentation &amp; Targeted Marketing Intelligence </a:t>
            </a:r>
            <a:r>
              <a:rPr lang="en-US" dirty="0"/>
              <a:t>	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6AF79-6684-E96D-4567-A48C627C2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6103" y="5171768"/>
            <a:ext cx="2902700" cy="467577"/>
          </a:xfrm>
        </p:spPr>
        <p:txBody>
          <a:bodyPr/>
          <a:lstStyle/>
          <a:p>
            <a:r>
              <a:rPr lang="en-IN" dirty="0"/>
              <a:t>By Nahid Bilal Sayyed</a:t>
            </a:r>
          </a:p>
        </p:txBody>
      </p:sp>
      <p:pic>
        <p:nvPicPr>
          <p:cNvPr id="1026" name="Picture 2" descr="Flipkart Logo Stock Illustrations – 34 Flipkart Logo Stock Illustrations,  Vectors &amp; Clipart - Dreamstime">
            <a:extLst>
              <a:ext uri="{FF2B5EF4-FFF2-40B4-BE49-F238E27FC236}">
                <a16:creationId xmlns:a16="http://schemas.microsoft.com/office/drawing/2014/main" id="{C1638270-6279-1AB4-05B7-93857A4214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0" t="43126" r="30000" b="41513"/>
          <a:stretch>
            <a:fillRect/>
          </a:stretch>
        </p:blipFill>
        <p:spPr bwMode="auto">
          <a:xfrm>
            <a:off x="1079579" y="501174"/>
            <a:ext cx="4248408" cy="13276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660395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BA27A-8B20-07BA-E825-B08EA53E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85" y="529718"/>
            <a:ext cx="7472414" cy="731960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Behavioural Study of Each Segment: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71F2D1-8AB7-C7B0-D0F5-68ECCD2817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873"/>
          <a:stretch>
            <a:fillRect/>
          </a:stretch>
        </p:blipFill>
        <p:spPr>
          <a:xfrm>
            <a:off x="1011630" y="3429000"/>
            <a:ext cx="7472415" cy="299761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094AB-13F7-BE4C-78C6-C3FDEE40D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63794" y="1366684"/>
            <a:ext cx="9212825" cy="1828800"/>
          </a:xfrm>
        </p:spPr>
        <p:txBody>
          <a:bodyPr/>
          <a:lstStyle/>
          <a:p>
            <a:pPr marL="742813" lvl="1" indent="-285750">
              <a:buFont typeface="Arial" panose="020B0604020202020204" pitchFamily="34" charset="0"/>
              <a:buChar char="•"/>
            </a:pPr>
            <a:r>
              <a:rPr lang="en-IN" b="1" dirty="0"/>
              <a:t>Mobiles &amp; Electronics</a:t>
            </a:r>
            <a:r>
              <a:rPr lang="en-IN" dirty="0"/>
              <a:t> and </a:t>
            </a:r>
            <a:r>
              <a:rPr lang="en-IN" b="1" dirty="0"/>
              <a:t>Books &amp; Education</a:t>
            </a:r>
            <a:r>
              <a:rPr lang="en-IN" dirty="0"/>
              <a:t> are the primary interests for the majority of segments (At Risk, About to Sleep, Potential Loyalists).</a:t>
            </a:r>
          </a:p>
          <a:p>
            <a:pPr marL="742813" lvl="1" indent="-285750">
              <a:buFont typeface="Arial" panose="020B0604020202020204" pitchFamily="34" charset="0"/>
              <a:buChar char="•"/>
            </a:pPr>
            <a:r>
              <a:rPr lang="en-IN" b="1" dirty="0"/>
              <a:t>Fashion &amp; Apparel</a:t>
            </a:r>
            <a:r>
              <a:rPr lang="en-IN" dirty="0"/>
              <a:t> is a secondary driver, particularly for New Customers and Loyalists.</a:t>
            </a:r>
          </a:p>
          <a:p>
            <a:pPr marL="742813" lvl="1" indent="-285750">
              <a:buFont typeface="Arial" panose="020B0604020202020204" pitchFamily="34" charset="0"/>
              <a:buChar char="•"/>
            </a:pPr>
            <a:r>
              <a:rPr lang="en-IN" dirty="0"/>
              <a:t>All segments show extremely high session durations, ranging from </a:t>
            </a:r>
            <a:r>
              <a:rPr lang="en-IN" b="1" dirty="0"/>
              <a:t>1,660 to 1,893 minutes</a:t>
            </a:r>
            <a:r>
              <a:rPr lang="en-IN" dirty="0"/>
              <a:t>.</a:t>
            </a:r>
          </a:p>
          <a:p>
            <a:pPr marL="742813" lvl="1" indent="-285750">
              <a:buFont typeface="Arial" panose="020B0604020202020204" pitchFamily="34" charset="0"/>
              <a:buChar char="•"/>
            </a:pPr>
            <a:r>
              <a:rPr lang="en-US" dirty="0"/>
              <a:t>There is a </a:t>
            </a:r>
            <a:r>
              <a:rPr lang="en-US" b="1" dirty="0"/>
              <a:t>0.00% Browse-to-Cart rate</a:t>
            </a:r>
            <a:r>
              <a:rPr lang="en-US" dirty="0"/>
              <a:t> across every single segment. While users are spending significant time on the platform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8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F81DA-D2ED-6F12-9E35-E1599687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425" y="551166"/>
            <a:ext cx="4337118" cy="668033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Campaign Performance: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AAA133-8A6C-9022-CB5E-7A918132D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244" y="1543665"/>
            <a:ext cx="8111613" cy="431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5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4E7A4-E08C-7795-0B3A-431921612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508" y="560439"/>
            <a:ext cx="8596668" cy="592885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Top 3 Best Performing Campaigns: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pPr lvl="0"/>
            <a:r>
              <a:rPr lang="en-IN" b="1" dirty="0"/>
              <a:t>The Conversion Winner:</a:t>
            </a:r>
            <a:r>
              <a:rPr lang="en-IN" dirty="0"/>
              <a:t> The </a:t>
            </a:r>
            <a:r>
              <a:rPr lang="en-IN" b="1" dirty="0"/>
              <a:t>Cart Abandonment Reminder</a:t>
            </a:r>
            <a:r>
              <a:rPr lang="en-IN" dirty="0"/>
              <a:t> is the undisputed champion. It achieved the highest conversion rate in the dataset (</a:t>
            </a:r>
            <a:r>
              <a:rPr lang="en-IN" b="1" dirty="0"/>
              <a:t>14.32%</a:t>
            </a:r>
            <a:r>
              <a:rPr lang="en-IN" dirty="0"/>
              <a:t> for Loyal Customers). This suggests that users are highly intent-driven but need a final nudge to cross the 0% cart-to-browse gap noted in your session data.</a:t>
            </a:r>
          </a:p>
          <a:p>
            <a:pPr lvl="0"/>
            <a:r>
              <a:rPr lang="en-IN" b="1" dirty="0"/>
              <a:t>The Attention Winner:</a:t>
            </a:r>
            <a:r>
              <a:rPr lang="en-IN" dirty="0"/>
              <a:t> The </a:t>
            </a:r>
            <a:r>
              <a:rPr lang="en-IN" b="1" dirty="0"/>
              <a:t>Re-engagement Coupon</a:t>
            </a:r>
            <a:r>
              <a:rPr lang="en-IN" dirty="0"/>
              <a:t> consistently sees the highest </a:t>
            </a:r>
            <a:r>
              <a:rPr lang="en-IN" b="1" dirty="0"/>
              <a:t>Open Rates</a:t>
            </a:r>
            <a:r>
              <a:rPr lang="en-IN" dirty="0"/>
              <a:t> (peaking at </a:t>
            </a:r>
            <a:r>
              <a:rPr lang="en-IN" b="1" dirty="0"/>
              <a:t>63.78%</a:t>
            </a:r>
            <a:r>
              <a:rPr lang="en-IN" dirty="0"/>
              <a:t>). While its conversion is lower (~7%), it is your most effective tool for getting "Lost" or "At Risk" customers to actually open their emails.</a:t>
            </a:r>
          </a:p>
          <a:p>
            <a:pPr lvl="0"/>
            <a:r>
              <a:rPr lang="en-IN" b="1" dirty="0"/>
              <a:t>The Underperformer:</a:t>
            </a:r>
            <a:r>
              <a:rPr lang="en-IN" dirty="0"/>
              <a:t> </a:t>
            </a:r>
            <a:r>
              <a:rPr lang="en-IN" b="1" dirty="0"/>
              <a:t>Big Billion Days Teaser</a:t>
            </a:r>
            <a:r>
              <a:rPr lang="en-IN" dirty="0"/>
              <a:t> and </a:t>
            </a:r>
            <a:r>
              <a:rPr lang="en-IN" b="1" dirty="0"/>
              <a:t>Premium Brand Launch</a:t>
            </a:r>
            <a:r>
              <a:rPr lang="en-IN" dirty="0"/>
              <a:t> show the lowest conversion rates (often </a:t>
            </a:r>
            <a:r>
              <a:rPr lang="en-IN" b="1" dirty="0"/>
              <a:t>&lt;5%</a:t>
            </a:r>
            <a:r>
              <a:rPr lang="en-IN" dirty="0"/>
              <a:t>). These function better as "Awareness" tools rather than "Direct Response" tools.</a:t>
            </a:r>
          </a:p>
          <a:p>
            <a:pPr lvl="0"/>
            <a:r>
              <a:rPr lang="en-IN" b="1" dirty="0"/>
              <a:t>Segment Synergy:</a:t>
            </a:r>
            <a:r>
              <a:rPr lang="en-IN" dirty="0"/>
              <a:t> The </a:t>
            </a:r>
            <a:r>
              <a:rPr lang="en-IN" b="1" dirty="0"/>
              <a:t>Republic Day Sale</a:t>
            </a:r>
            <a:r>
              <a:rPr lang="en-IN" dirty="0"/>
              <a:t> performed exceptionally well for the </a:t>
            </a:r>
            <a:r>
              <a:rPr lang="en-IN" b="1" dirty="0"/>
              <a:t>Need Attention</a:t>
            </a:r>
            <a:r>
              <a:rPr lang="en-IN" dirty="0"/>
              <a:t> segment (</a:t>
            </a:r>
            <a:r>
              <a:rPr lang="en-IN" b="1" dirty="0"/>
              <a:t>11.01% conversion</a:t>
            </a:r>
            <a:r>
              <a:rPr lang="en-IN" dirty="0"/>
              <a:t>), suggesting that holiday-themed urgency works best on mid-tier, fading customers.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96CB8C-51C4-1D1C-7CD9-E239A1121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995104"/>
              </p:ext>
            </p:extLst>
          </p:nvPr>
        </p:nvGraphicFramePr>
        <p:xfrm>
          <a:off x="867362" y="972796"/>
          <a:ext cx="8596668" cy="1862078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787347">
                  <a:extLst>
                    <a:ext uri="{9D8B030D-6E8A-4147-A177-3AD203B41FA5}">
                      <a16:colId xmlns:a16="http://schemas.microsoft.com/office/drawing/2014/main" val="2596783218"/>
                    </a:ext>
                  </a:extLst>
                </a:gridCol>
                <a:gridCol w="1661652">
                  <a:extLst>
                    <a:ext uri="{9D8B030D-6E8A-4147-A177-3AD203B41FA5}">
                      <a16:colId xmlns:a16="http://schemas.microsoft.com/office/drawing/2014/main" val="394365290"/>
                    </a:ext>
                  </a:extLst>
                </a:gridCol>
                <a:gridCol w="1622323">
                  <a:extLst>
                    <a:ext uri="{9D8B030D-6E8A-4147-A177-3AD203B41FA5}">
                      <a16:colId xmlns:a16="http://schemas.microsoft.com/office/drawing/2014/main" val="962621160"/>
                    </a:ext>
                  </a:extLst>
                </a:gridCol>
                <a:gridCol w="3525346">
                  <a:extLst>
                    <a:ext uri="{9D8B030D-6E8A-4147-A177-3AD203B41FA5}">
                      <a16:colId xmlns:a16="http://schemas.microsoft.com/office/drawing/2014/main" val="3797641819"/>
                    </a:ext>
                  </a:extLst>
                </a:gridCol>
              </a:tblGrid>
              <a:tr h="3228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Campaign Name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Avg. Conversion Rate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Primary Strength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Best For...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6200" marB="76200"/>
                </a:tc>
                <a:extLst>
                  <a:ext uri="{0D108BD9-81ED-4DB2-BD59-A6C34878D82A}">
                    <a16:rowId xmlns:a16="http://schemas.microsoft.com/office/drawing/2014/main" val="2437468211"/>
                  </a:ext>
                </a:extLst>
              </a:tr>
              <a:tr h="5135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Cart Abandonment Reminder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11.1% – 14.3%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Highest Conversion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Closing sales for "Loyal" and "At Risk" segments.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2771922853"/>
                  </a:ext>
                </a:extLst>
              </a:tr>
              <a:tr h="5053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Flash Sale Alert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9.0% – 11.3%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High Click-Through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Driving immediate traffic and clearing inventory.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1861898918"/>
                  </a:ext>
                </a:extLst>
              </a:tr>
              <a:tr h="455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Loyalty Points Bonus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>
                          <a:effectLst/>
                        </a:rPr>
                        <a:t>8.1% – 10.8%</a:t>
                      </a:r>
                      <a:endParaRPr lang="en-IN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Balanced Engagement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effectLst/>
                        </a:rPr>
                        <a:t>Maintaining long-term retention across all segments.</a:t>
                      </a:r>
                      <a:endParaRPr lang="en-IN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1890301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4682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B7A1-25B6-8D6A-26FF-7874CA8CC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86581"/>
            <a:ext cx="8596668" cy="878348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Customer Life Value for each Segment: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7BADF3-2851-63AC-4963-1F43F50B11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811593"/>
            <a:ext cx="8800964" cy="3234813"/>
          </a:xfrm>
          <a:prstGeom prst="rect">
            <a:avLst/>
          </a:prstGeom>
        </p:spPr>
      </p:pic>
      <p:pic>
        <p:nvPicPr>
          <p:cNvPr id="7" name="Picture 2" descr="Flipkart Logo Stock Illustrations – 34 Flipkart Logo Stock Illustrations,  Vectors &amp; Clipart - Dreamstime">
            <a:extLst>
              <a:ext uri="{FF2B5EF4-FFF2-40B4-BE49-F238E27FC236}">
                <a16:creationId xmlns:a16="http://schemas.microsoft.com/office/drawing/2014/main" id="{81D06FD2-E8B8-6EDE-7F36-7429CEAE8D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0" t="43126" r="30000" b="41513"/>
          <a:stretch>
            <a:fillRect/>
          </a:stretch>
        </p:blipFill>
        <p:spPr bwMode="auto">
          <a:xfrm>
            <a:off x="516974" y="5175661"/>
            <a:ext cx="4359826" cy="136244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382136"/>
      </p:ext>
    </p:extLst>
  </p:cSld>
  <p:clrMapOvr>
    <a:masterClrMapping/>
  </p:clrMapOvr>
  <p:transition spd="slow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70A4-CB74-6E4D-C019-4BBD6ACD5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25" y="757084"/>
            <a:ext cx="8596668" cy="717755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Market recommendations for each segment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06E4FBC-BCF7-CCB1-8A10-FD530EB9F3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792208"/>
              </p:ext>
            </p:extLst>
          </p:nvPr>
        </p:nvGraphicFramePr>
        <p:xfrm>
          <a:off x="677334" y="1879419"/>
          <a:ext cx="8672051" cy="384295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167063">
                  <a:extLst>
                    <a:ext uri="{9D8B030D-6E8A-4147-A177-3AD203B41FA5}">
                      <a16:colId xmlns:a16="http://schemas.microsoft.com/office/drawing/2014/main" val="116687078"/>
                    </a:ext>
                  </a:extLst>
                </a:gridCol>
                <a:gridCol w="1167063">
                  <a:extLst>
                    <a:ext uri="{9D8B030D-6E8A-4147-A177-3AD203B41FA5}">
                      <a16:colId xmlns:a16="http://schemas.microsoft.com/office/drawing/2014/main" val="1018558271"/>
                    </a:ext>
                  </a:extLst>
                </a:gridCol>
                <a:gridCol w="1167063">
                  <a:extLst>
                    <a:ext uri="{9D8B030D-6E8A-4147-A177-3AD203B41FA5}">
                      <a16:colId xmlns:a16="http://schemas.microsoft.com/office/drawing/2014/main" val="884979447"/>
                    </a:ext>
                  </a:extLst>
                </a:gridCol>
                <a:gridCol w="1167063">
                  <a:extLst>
                    <a:ext uri="{9D8B030D-6E8A-4147-A177-3AD203B41FA5}">
                      <a16:colId xmlns:a16="http://schemas.microsoft.com/office/drawing/2014/main" val="4202249529"/>
                    </a:ext>
                  </a:extLst>
                </a:gridCol>
                <a:gridCol w="1167063">
                  <a:extLst>
                    <a:ext uri="{9D8B030D-6E8A-4147-A177-3AD203B41FA5}">
                      <a16:colId xmlns:a16="http://schemas.microsoft.com/office/drawing/2014/main" val="1253393175"/>
                    </a:ext>
                  </a:extLst>
                </a:gridCol>
                <a:gridCol w="2836736">
                  <a:extLst>
                    <a:ext uri="{9D8B030D-6E8A-4147-A177-3AD203B41FA5}">
                      <a16:colId xmlns:a16="http://schemas.microsoft.com/office/drawing/2014/main" val="3782571788"/>
                    </a:ext>
                  </a:extLst>
                </a:gridCol>
              </a:tblGrid>
              <a:tr h="5757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Segment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Primary Channel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Offer Type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Product Category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Discount Depth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76200" marB="762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Data-Driven Justification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6200" marB="76200"/>
                </a:tc>
                <a:extLst>
                  <a:ext uri="{0D108BD9-81ED-4DB2-BD59-A6C34878D82A}">
                    <a16:rowId xmlns:a16="http://schemas.microsoft.com/office/drawing/2014/main" val="531809082"/>
                  </a:ext>
                </a:extLst>
              </a:tr>
              <a:tr h="868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Champions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Email (VIP branded)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Early Access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New Arrivals / Premium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0%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Their high M and F scores show they value status and exclusivity over price cuts.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1515559065"/>
                  </a:ext>
                </a:extLst>
              </a:tr>
              <a:tr h="6602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Loyal Customers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In-App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Loyalty Points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Frequently Bought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0% (2x Points)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High F scores suggest habitual use; points increase switching costs to competitors.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3356705560"/>
                  </a:ext>
                </a:extLst>
              </a:tr>
              <a:tr h="868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Potential Loyalists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Push Notification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Bundle Offer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Complementary Items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10%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Their high R but low M/F suggests they are testing you; bundles increase Average Order Value (AOV).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2032190681"/>
                  </a:ext>
                </a:extLst>
              </a:tr>
              <a:tr h="8689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New Customers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Email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Welcome Coupon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Best Sellers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15%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High R and F=1 means they are in the "honeymoon" phase; a discount secures the critical second purchase.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4300" marB="114300"/>
                </a:tc>
                <a:extLst>
                  <a:ext uri="{0D108BD9-81ED-4DB2-BD59-A6C34878D82A}">
                    <a16:rowId xmlns:a16="http://schemas.microsoft.com/office/drawing/2014/main" val="96647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699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564A4E-AFDD-3F30-615F-9E2F733F06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504368"/>
              </p:ext>
            </p:extLst>
          </p:nvPr>
        </p:nvGraphicFramePr>
        <p:xfrm>
          <a:off x="462116" y="370502"/>
          <a:ext cx="9045679" cy="4968416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1032387">
                  <a:extLst>
                    <a:ext uri="{9D8B030D-6E8A-4147-A177-3AD203B41FA5}">
                      <a16:colId xmlns:a16="http://schemas.microsoft.com/office/drawing/2014/main" val="1111606112"/>
                    </a:ext>
                  </a:extLst>
                </a:gridCol>
                <a:gridCol w="1402303">
                  <a:extLst>
                    <a:ext uri="{9D8B030D-6E8A-4147-A177-3AD203B41FA5}">
                      <a16:colId xmlns:a16="http://schemas.microsoft.com/office/drawing/2014/main" val="1824625905"/>
                    </a:ext>
                  </a:extLst>
                </a:gridCol>
                <a:gridCol w="1217345">
                  <a:extLst>
                    <a:ext uri="{9D8B030D-6E8A-4147-A177-3AD203B41FA5}">
                      <a16:colId xmlns:a16="http://schemas.microsoft.com/office/drawing/2014/main" val="2043095655"/>
                    </a:ext>
                  </a:extLst>
                </a:gridCol>
                <a:gridCol w="1217345">
                  <a:extLst>
                    <a:ext uri="{9D8B030D-6E8A-4147-A177-3AD203B41FA5}">
                      <a16:colId xmlns:a16="http://schemas.microsoft.com/office/drawing/2014/main" val="2505739233"/>
                    </a:ext>
                  </a:extLst>
                </a:gridCol>
                <a:gridCol w="1039807">
                  <a:extLst>
                    <a:ext uri="{9D8B030D-6E8A-4147-A177-3AD203B41FA5}">
                      <a16:colId xmlns:a16="http://schemas.microsoft.com/office/drawing/2014/main" val="2941795795"/>
                    </a:ext>
                  </a:extLst>
                </a:gridCol>
                <a:gridCol w="3136492">
                  <a:extLst>
                    <a:ext uri="{9D8B030D-6E8A-4147-A177-3AD203B41FA5}">
                      <a16:colId xmlns:a16="http://schemas.microsoft.com/office/drawing/2014/main" val="2613543844"/>
                    </a:ext>
                  </a:extLst>
                </a:gridCol>
              </a:tblGrid>
              <a:tr h="8252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Promising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0" kern="100" dirty="0">
                          <a:effectLst/>
                        </a:rPr>
                        <a:t>In-App</a:t>
                      </a:r>
                      <a:endParaRPr lang="en-IN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0" kern="100" dirty="0">
                          <a:effectLst/>
                        </a:rPr>
                        <a:t>Loyalty Points</a:t>
                      </a:r>
                      <a:endParaRPr lang="en-IN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0" kern="100" dirty="0">
                          <a:effectLst/>
                        </a:rPr>
                        <a:t>Trending Items</a:t>
                      </a:r>
                      <a:endParaRPr lang="en-IN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0" kern="100" dirty="0">
                          <a:effectLst/>
                        </a:rPr>
                        <a:t>0% (Bonus)</a:t>
                      </a:r>
                      <a:endParaRPr lang="en-IN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0" kern="100" dirty="0">
                          <a:effectLst/>
                        </a:rPr>
                        <a:t>Recent engagement with low history suggests they need a "nudge" to join your ecosystem.</a:t>
                      </a:r>
                      <a:endParaRPr lang="en-IN" sz="12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6459" marB="106459"/>
                </a:tc>
                <a:extLst>
                  <a:ext uri="{0D108BD9-81ED-4DB2-BD59-A6C34878D82A}">
                    <a16:rowId xmlns:a16="http://schemas.microsoft.com/office/drawing/2014/main" val="3902912305"/>
                  </a:ext>
                </a:extLst>
              </a:tr>
              <a:tr h="8252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Need Attention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SMS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Percentage Discount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Last Browsed Category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20%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Mid-tier R/F scores indicate they are starting to drift; a direct SMS with a clear discount regains focus.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6459" marB="106459"/>
                </a:tc>
                <a:extLst>
                  <a:ext uri="{0D108BD9-81ED-4DB2-BD59-A6C34878D82A}">
                    <a16:rowId xmlns:a16="http://schemas.microsoft.com/office/drawing/2014/main" val="554314946"/>
                  </a:ext>
                </a:extLst>
              </a:tr>
              <a:tr h="8252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About to Sleep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Push Notification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Percentage Discount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High-Rated Staples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25%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Low R and F scores show fading interest; a higher discount is needed to disrupt their exit.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6459" marB="106459"/>
                </a:tc>
                <a:extLst>
                  <a:ext uri="{0D108BD9-81ED-4DB2-BD59-A6C34878D82A}">
                    <a16:rowId xmlns:a16="http://schemas.microsoft.com/office/drawing/2014/main" val="2651053135"/>
                  </a:ext>
                </a:extLst>
              </a:tr>
              <a:tr h="8252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At Risk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Email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Win-back Coupon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Personalized Recomm.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30%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These were high-value (F/M 2-5) but haven't bought recently; aggressive saving is cheaper than acquisition.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6459" marB="106459"/>
                </a:tc>
                <a:extLst>
                  <a:ext uri="{0D108BD9-81ED-4DB2-BD59-A6C34878D82A}">
                    <a16:rowId xmlns:a16="http://schemas.microsoft.com/office/drawing/2014/main" val="3283979158"/>
                  </a:ext>
                </a:extLst>
              </a:tr>
              <a:tr h="8419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Cannot Lose Them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SMS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Win-back Coupon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Brand Favorites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40%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R=1 with high F/M means they’ve likely switched brands; a "heavy" offer is the only way to get a reappraisal.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6459" marB="106459"/>
                </a:tc>
                <a:extLst>
                  <a:ext uri="{0D108BD9-81ED-4DB2-BD59-A6C34878D82A}">
                    <a16:rowId xmlns:a16="http://schemas.microsoft.com/office/drawing/2014/main" val="1378643561"/>
                  </a:ext>
                </a:extLst>
              </a:tr>
              <a:tr h="8252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Lost Customers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Email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Win-back Coupon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Clearance / Outlet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50%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41946" marT="106459" marB="106459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Low scores across the board; use deep discounts only to clear stock or gain survey data.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6459" marB="106459"/>
                </a:tc>
                <a:extLst>
                  <a:ext uri="{0D108BD9-81ED-4DB2-BD59-A6C34878D82A}">
                    <a16:rowId xmlns:a16="http://schemas.microsoft.com/office/drawing/2014/main" val="73690116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2CAA2BF-7013-37F1-0CAB-16C191D55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2" descr="Flipkart Logo Stock Illustrations – 34 Flipkart Logo Stock Illustrations,  Vectors &amp; Clipart - Dreamstime">
            <a:extLst>
              <a:ext uri="{FF2B5EF4-FFF2-40B4-BE49-F238E27FC236}">
                <a16:creationId xmlns:a16="http://schemas.microsoft.com/office/drawing/2014/main" id="{22B6DED1-3D74-EE89-4651-CA6E24736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0" t="43126" r="30000" b="41513"/>
          <a:stretch>
            <a:fillRect/>
          </a:stretch>
        </p:blipFill>
        <p:spPr bwMode="auto">
          <a:xfrm>
            <a:off x="462116" y="5417576"/>
            <a:ext cx="4248408" cy="132762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92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AF5A09-8437-5242-F189-F68574FDE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95" y="1042218"/>
            <a:ext cx="9487699" cy="56535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361AC874-5052-FE46-887D-765788C1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05" y="344128"/>
            <a:ext cx="8596668" cy="698090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Visual Presentation in Power BI:</a:t>
            </a:r>
          </a:p>
        </p:txBody>
      </p:sp>
    </p:spTree>
    <p:extLst>
      <p:ext uri="{BB962C8B-B14F-4D97-AF65-F5344CB8AC3E}">
        <p14:creationId xmlns:p14="http://schemas.microsoft.com/office/powerpoint/2010/main" val="2786893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9D215-81F7-BA1B-8533-AF9A44BFE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743048"/>
            <a:ext cx="8596668" cy="1452435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Algerian" panose="04020705040A02060702" pitchFamily="82" charset="0"/>
              </a:rPr>
              <a:t>THANK YOU!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97730-71A2-CD87-4D69-E9EDFD7A5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851" y="5830529"/>
            <a:ext cx="3786510" cy="623788"/>
          </a:xfrm>
        </p:spPr>
        <p:txBody>
          <a:bodyPr/>
          <a:lstStyle/>
          <a:p>
            <a:r>
              <a:rPr lang="en-IN" dirty="0"/>
              <a:t>Nahid Bilal Sayyed</a:t>
            </a:r>
          </a:p>
        </p:txBody>
      </p:sp>
    </p:spTree>
    <p:extLst>
      <p:ext uri="{BB962C8B-B14F-4D97-AF65-F5344CB8AC3E}">
        <p14:creationId xmlns:p14="http://schemas.microsoft.com/office/powerpoint/2010/main" val="408796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Custom 2">
      <a:dk1>
        <a:sysClr val="windowText" lastClr="000000"/>
      </a:dk1>
      <a:lt1>
        <a:sysClr val="window" lastClr="FFFFFF"/>
      </a:lt1>
      <a:dk2>
        <a:srgbClr val="6E91A0"/>
      </a:dk2>
      <a:lt2>
        <a:srgbClr val="EBEBEB"/>
      </a:lt2>
      <a:accent1>
        <a:srgbClr val="90C226"/>
      </a:accent1>
      <a:accent2>
        <a:srgbClr val="54A021"/>
      </a:accent2>
      <a:accent3>
        <a:srgbClr val="FFFF00"/>
      </a:accent3>
      <a:accent4>
        <a:srgbClr val="E6B91E"/>
      </a:accent4>
      <a:accent5>
        <a:srgbClr val="FFFF65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692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Arial Rounded MT Bold</vt:lpstr>
      <vt:lpstr>Calibri</vt:lpstr>
      <vt:lpstr>Trebuchet MS</vt:lpstr>
      <vt:lpstr>Wingdings 3</vt:lpstr>
      <vt:lpstr>Facet</vt:lpstr>
      <vt:lpstr>   Flipkart Customer Segmentation &amp; Targeted Marketing Intelligence  </vt:lpstr>
      <vt:lpstr>Behavioural Study of Each Segment:</vt:lpstr>
      <vt:lpstr>Campaign Performance:</vt:lpstr>
      <vt:lpstr>PowerPoint Presentation</vt:lpstr>
      <vt:lpstr>Customer Life Value for each Segment:</vt:lpstr>
      <vt:lpstr>Market recommendations for each segment</vt:lpstr>
      <vt:lpstr>PowerPoint Presentation</vt:lpstr>
      <vt:lpstr>Visual Presentation in Power BI: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Nahid Ansari</dc:creator>
  <cp:lastModifiedBy>Nahid Ansari</cp:lastModifiedBy>
  <cp:revision>4</cp:revision>
  <dcterms:created xsi:type="dcterms:W3CDTF">2026-04-11T06:50:01Z</dcterms:created>
  <dcterms:modified xsi:type="dcterms:W3CDTF">2026-04-11T11:14:45Z</dcterms:modified>
</cp:coreProperties>
</file>
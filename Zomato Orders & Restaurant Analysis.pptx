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3C5D4942-C08F-4F5B-9092-991F3207F3EE}" type="datetimeFigureOut">
              <a:rPr lang="en-IN" smtClean="0"/>
              <a:t>19-03-2026</a:t>
            </a:fld>
            <a:endParaRPr lang="en-IN"/>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N"/>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B449E3A1-C691-4586-B0B7-BFABC365A29D}" type="slidenum">
              <a:rPr lang="en-IN" smtClean="0"/>
              <a:t>‹#›</a:t>
            </a:fld>
            <a:endParaRPr lang="en-IN"/>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476124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5D4942-C08F-4F5B-9092-991F3207F3EE}"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427535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5D4942-C08F-4F5B-9092-991F3207F3EE}"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4185977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5D4942-C08F-4F5B-9092-991F3207F3EE}"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2304968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5D4942-C08F-4F5B-9092-991F3207F3EE}" type="datetimeFigureOut">
              <a:rPr lang="en-IN" smtClean="0"/>
              <a:t>19-03-2026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4194864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5D4942-C08F-4F5B-9092-991F3207F3EE}"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36815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5D4942-C08F-4F5B-9092-991F3207F3EE}" type="datetimeFigureOut">
              <a:rPr lang="en-IN" smtClean="0"/>
              <a:t>19-03-2026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523584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5D4942-C08F-4F5B-9092-991F3207F3EE}"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2896787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5D4942-C08F-4F5B-9092-991F3207F3EE}"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402224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5D4942-C08F-4F5B-9092-991F3207F3EE}"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3708153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5D4942-C08F-4F5B-9092-991F3207F3EE}"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713872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5D4942-C08F-4F5B-9092-991F3207F3EE}"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49E3A1-C691-4586-B0B7-BFABC365A29D}" type="slidenum">
              <a:rPr lang="en-IN" smtClean="0"/>
              <a:t>‹#›</a:t>
            </a:fld>
            <a:endParaRPr lang="en-IN"/>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73239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C5D4942-C08F-4F5B-9092-991F3207F3EE}" type="datetimeFigureOut">
              <a:rPr lang="en-IN" smtClean="0"/>
              <a:t>19-03-2026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2913931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5D4942-C08F-4F5B-9092-991F3207F3EE}"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3260280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5D4942-C08F-4F5B-9092-991F3207F3EE}" type="datetimeFigureOut">
              <a:rPr lang="en-IN" smtClean="0"/>
              <a:t>19-03-2026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12557271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5D4942-C08F-4F5B-9092-991F3207F3EE}"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32118462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5D4942-C08F-4F5B-9092-991F3207F3EE}" type="datetimeFigureOut">
              <a:rPr lang="en-IN" smtClean="0"/>
              <a:t>19-03-2026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49E3A1-C691-4586-B0B7-BFABC365A29D}" type="slidenum">
              <a:rPr lang="en-IN" smtClean="0"/>
              <a:t>‹#›</a:t>
            </a:fld>
            <a:endParaRPr lang="en-IN"/>
          </a:p>
        </p:txBody>
      </p:sp>
    </p:spTree>
    <p:extLst>
      <p:ext uri="{BB962C8B-B14F-4D97-AF65-F5344CB8AC3E}">
        <p14:creationId xmlns:p14="http://schemas.microsoft.com/office/powerpoint/2010/main" val="1531024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3C5D4942-C08F-4F5B-9092-991F3207F3EE}" type="datetimeFigureOut">
              <a:rPr lang="en-IN" smtClean="0"/>
              <a:t>19-03-2026</a:t>
            </a:fld>
            <a:endParaRPr lang="en-IN"/>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N"/>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B449E3A1-C691-4586-B0B7-BFABC365A29D}" type="slidenum">
              <a:rPr lang="en-IN" smtClean="0"/>
              <a:t>‹#›</a:t>
            </a:fld>
            <a:endParaRPr lang="en-IN"/>
          </a:p>
        </p:txBody>
      </p:sp>
    </p:spTree>
    <p:extLst>
      <p:ext uri="{BB962C8B-B14F-4D97-AF65-F5344CB8AC3E}">
        <p14:creationId xmlns:p14="http://schemas.microsoft.com/office/powerpoint/2010/main" val="36919482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C55F1-256F-07DB-C7DC-E38392B63D42}"/>
              </a:ext>
            </a:extLst>
          </p:cNvPr>
          <p:cNvSpPr>
            <a:spLocks noGrp="1"/>
          </p:cNvSpPr>
          <p:nvPr>
            <p:ph type="ctrTitle"/>
          </p:nvPr>
        </p:nvSpPr>
        <p:spPr/>
        <p:txBody>
          <a:bodyPr>
            <a:normAutofit/>
          </a:bodyPr>
          <a:lstStyle/>
          <a:p>
            <a:r>
              <a:rPr lang="en-IN" sz="6600" cap="none" dirty="0">
                <a:latin typeface="+mn-lt"/>
              </a:rPr>
              <a:t>Zomato Orders &amp; Restaurant Analysis</a:t>
            </a:r>
          </a:p>
        </p:txBody>
      </p:sp>
      <p:sp>
        <p:nvSpPr>
          <p:cNvPr id="3" name="Subtitle 2">
            <a:extLst>
              <a:ext uri="{FF2B5EF4-FFF2-40B4-BE49-F238E27FC236}">
                <a16:creationId xmlns:a16="http://schemas.microsoft.com/office/drawing/2014/main" id="{967009C7-F9A2-AB57-6CC5-244E5C5D4503}"/>
              </a:ext>
            </a:extLst>
          </p:cNvPr>
          <p:cNvSpPr>
            <a:spLocks noGrp="1"/>
          </p:cNvSpPr>
          <p:nvPr>
            <p:ph type="subTitle" idx="1"/>
          </p:nvPr>
        </p:nvSpPr>
        <p:spPr>
          <a:xfrm rot="21420000">
            <a:off x="1386184" y="5127532"/>
            <a:ext cx="9755187" cy="550333"/>
          </a:xfrm>
        </p:spPr>
        <p:txBody>
          <a:bodyPr/>
          <a:lstStyle/>
          <a:p>
            <a:r>
              <a:rPr lang="en-IN" sz="2400" cap="none" dirty="0">
                <a:latin typeface="Aptos Narrow" panose="020B0004020202020204" pitchFamily="34" charset="0"/>
              </a:rPr>
              <a:t>By Nahid Bilal Sayyed</a:t>
            </a:r>
          </a:p>
        </p:txBody>
      </p:sp>
    </p:spTree>
    <p:extLst>
      <p:ext uri="{BB962C8B-B14F-4D97-AF65-F5344CB8AC3E}">
        <p14:creationId xmlns:p14="http://schemas.microsoft.com/office/powerpoint/2010/main" val="1602697536"/>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283383-47FC-E418-A21B-02FA05FB3618}"/>
              </a:ext>
            </a:extLst>
          </p:cNvPr>
          <p:cNvSpPr>
            <a:spLocks noGrp="1"/>
          </p:cNvSpPr>
          <p:nvPr>
            <p:ph type="body" idx="1"/>
          </p:nvPr>
        </p:nvSpPr>
        <p:spPr>
          <a:xfrm>
            <a:off x="737419" y="796413"/>
            <a:ext cx="10225549" cy="3628104"/>
          </a:xfrm>
        </p:spPr>
        <p:txBody>
          <a:bodyPr>
            <a:normAutofit/>
          </a:bodyPr>
          <a:lstStyle/>
          <a:p>
            <a:r>
              <a:rPr lang="en-IN" sz="2400" u="sng" dirty="0">
                <a:solidFill>
                  <a:schemeClr val="accent1"/>
                </a:solidFill>
              </a:rPr>
              <a:t>Introduction</a:t>
            </a:r>
            <a:r>
              <a:rPr lang="en-IN" sz="1800" dirty="0">
                <a:solidFill>
                  <a:schemeClr val="accent1"/>
                </a:solidFill>
              </a:rPr>
              <a:t>: </a:t>
            </a:r>
          </a:p>
          <a:p>
            <a:pPr algn="just"/>
            <a:r>
              <a:rPr lang="en-IN" cap="none" dirty="0">
                <a:solidFill>
                  <a:schemeClr val="accent1"/>
                </a:solidFill>
                <a:latin typeface="Arial Narrow" panose="020B0606020202030204" pitchFamily="34" charset="0"/>
              </a:rPr>
              <a:t>In this project, we analysed how many restaurants in different cities are registered with Zomato, how many orders they receive from Zomato, and how customers rate these restaurants. What are the top 5 restaurants that received the most orders?</a:t>
            </a:r>
          </a:p>
          <a:p>
            <a:pPr algn="just"/>
            <a:endParaRPr lang="en-IN" cap="none" dirty="0">
              <a:solidFill>
                <a:schemeClr val="accent1"/>
              </a:solidFill>
              <a:latin typeface="Arial Narrow" panose="020B0606020202030204" pitchFamily="34" charset="0"/>
            </a:endParaRPr>
          </a:p>
          <a:p>
            <a:pPr algn="just"/>
            <a:r>
              <a:rPr lang="en-IN" cap="none" dirty="0">
                <a:solidFill>
                  <a:schemeClr val="accent1"/>
                </a:solidFill>
                <a:latin typeface="Arial Narrow" panose="020B0606020202030204" pitchFamily="34" charset="0"/>
              </a:rPr>
              <a:t>I’ve cleaned the raw data, joined the tables in SQL, and exported the data in Excel format. </a:t>
            </a:r>
            <a:endParaRPr lang="en-IN" cap="none" dirty="0">
              <a:solidFill>
                <a:schemeClr val="tx1"/>
              </a:solidFill>
              <a:latin typeface="Arial Narrow" panose="020B0606020202030204" pitchFamily="34" charset="0"/>
            </a:endParaRPr>
          </a:p>
        </p:txBody>
      </p:sp>
    </p:spTree>
    <p:extLst>
      <p:ext uri="{BB962C8B-B14F-4D97-AF65-F5344CB8AC3E}">
        <p14:creationId xmlns:p14="http://schemas.microsoft.com/office/powerpoint/2010/main" val="209791029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3EF5D-BAC2-E48E-0F23-85C01308D97D}"/>
              </a:ext>
            </a:extLst>
          </p:cNvPr>
          <p:cNvSpPr>
            <a:spLocks noGrp="1"/>
          </p:cNvSpPr>
          <p:nvPr>
            <p:ph type="title"/>
          </p:nvPr>
        </p:nvSpPr>
        <p:spPr/>
        <p:txBody>
          <a:bodyPr>
            <a:normAutofit/>
          </a:bodyPr>
          <a:lstStyle/>
          <a:p>
            <a:r>
              <a:rPr lang="en-IN" sz="2000" cap="none" dirty="0">
                <a:latin typeface="Arial Black" panose="020B0A04020102020204" pitchFamily="34" charset="0"/>
              </a:rPr>
              <a:t>Number of restaurants in each city:</a:t>
            </a:r>
            <a:br>
              <a:rPr lang="en-IN" sz="2000" cap="none" dirty="0">
                <a:latin typeface="Arial Black" panose="020B0A04020102020204" pitchFamily="34" charset="0"/>
              </a:rPr>
            </a:br>
            <a:r>
              <a:rPr lang="en-IN" sz="2000" cap="none" dirty="0">
                <a:latin typeface="Arial Black" panose="020B0A04020102020204" pitchFamily="34" charset="0"/>
              </a:rPr>
              <a:t> </a:t>
            </a:r>
            <a:r>
              <a:rPr lang="en-IN" sz="1600" cap="none" dirty="0">
                <a:latin typeface="Arial Narrow" panose="020B0606020202030204" pitchFamily="34" charset="0"/>
              </a:rPr>
              <a:t>Here we can see that the highest number of restaurants are in </a:t>
            </a:r>
            <a:r>
              <a:rPr lang="en-IN" sz="1600" b="1" u="sng" cap="none" dirty="0">
                <a:latin typeface="Arial Narrow" panose="020B0606020202030204" pitchFamily="34" charset="0"/>
              </a:rPr>
              <a:t>Mumbai</a:t>
            </a:r>
            <a:r>
              <a:rPr lang="en-IN" sz="1600" b="1" cap="none" dirty="0">
                <a:latin typeface="Arial Narrow" panose="020B0606020202030204" pitchFamily="34" charset="0"/>
              </a:rPr>
              <a:t> </a:t>
            </a:r>
            <a:r>
              <a:rPr lang="en-IN" sz="1600" b="1" cap="none" dirty="0" err="1">
                <a:latin typeface="Arial Narrow" panose="020B0606020202030204" pitchFamily="34" charset="0"/>
              </a:rPr>
              <a:t>i.e</a:t>
            </a:r>
            <a:r>
              <a:rPr lang="en-IN" sz="1600" b="1" cap="none" dirty="0">
                <a:latin typeface="Arial Narrow" panose="020B0606020202030204" pitchFamily="34" charset="0"/>
              </a:rPr>
              <a:t> 3384.</a:t>
            </a:r>
            <a:endParaRPr lang="en-IN" sz="2800" b="1" u="sng" cap="none"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B2A634FC-1D5A-82B8-BCAF-453DA2AC9A2B}"/>
              </a:ext>
            </a:extLst>
          </p:cNvPr>
          <p:cNvPicPr>
            <a:picLocks noGrp="1" noChangeAspect="1"/>
          </p:cNvPicPr>
          <p:nvPr>
            <p:ph sz="quarter" idx="13"/>
          </p:nvPr>
        </p:nvPicPr>
        <p:blipFill>
          <a:blip r:embed="rId2"/>
          <a:stretch>
            <a:fillRect/>
          </a:stretch>
        </p:blipFill>
        <p:spPr>
          <a:xfrm>
            <a:off x="1868130" y="2063750"/>
            <a:ext cx="7423354" cy="3520973"/>
          </a:xfrm>
          <a:prstGeom prst="rect">
            <a:avLst/>
          </a:prstGeom>
        </p:spPr>
      </p:pic>
    </p:spTree>
    <p:extLst>
      <p:ext uri="{BB962C8B-B14F-4D97-AF65-F5344CB8AC3E}">
        <p14:creationId xmlns:p14="http://schemas.microsoft.com/office/powerpoint/2010/main" val="238950492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079D3-C945-66CE-EB7E-F6E4B0D971FC}"/>
              </a:ext>
            </a:extLst>
          </p:cNvPr>
          <p:cNvSpPr>
            <a:spLocks noGrp="1"/>
          </p:cNvSpPr>
          <p:nvPr>
            <p:ph type="title"/>
          </p:nvPr>
        </p:nvSpPr>
        <p:spPr>
          <a:xfrm>
            <a:off x="685801" y="685801"/>
            <a:ext cx="10396882" cy="828368"/>
          </a:xfrm>
        </p:spPr>
        <p:txBody>
          <a:bodyPr>
            <a:normAutofit/>
          </a:bodyPr>
          <a:lstStyle/>
          <a:p>
            <a:r>
              <a:rPr lang="en-IN" sz="2000" cap="none" dirty="0">
                <a:latin typeface="Arial Black" panose="020B0A04020102020204" pitchFamily="34" charset="0"/>
              </a:rPr>
              <a:t>No. Of Orders In Each City:</a:t>
            </a:r>
            <a:endParaRPr lang="en-IN" sz="4000"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336C473F-FBFC-11DB-F267-506934E5276B}"/>
              </a:ext>
            </a:extLst>
          </p:cNvPr>
          <p:cNvPicPr>
            <a:picLocks noGrp="1" noChangeAspect="1"/>
          </p:cNvPicPr>
          <p:nvPr>
            <p:ph sz="quarter" idx="13"/>
          </p:nvPr>
        </p:nvPicPr>
        <p:blipFill>
          <a:blip r:embed="rId2"/>
          <a:srcRect l="6830" t="3006" r="2102" b="6218"/>
          <a:stretch>
            <a:fillRect/>
          </a:stretch>
        </p:blipFill>
        <p:spPr>
          <a:xfrm>
            <a:off x="2959510" y="1514169"/>
            <a:ext cx="6056671" cy="4031225"/>
          </a:xfrm>
          <a:prstGeom prst="rect">
            <a:avLst/>
          </a:prstGeom>
        </p:spPr>
      </p:pic>
    </p:spTree>
    <p:extLst>
      <p:ext uri="{BB962C8B-B14F-4D97-AF65-F5344CB8AC3E}">
        <p14:creationId xmlns:p14="http://schemas.microsoft.com/office/powerpoint/2010/main" val="198250992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B2520-EF8A-ABA2-BD3D-23158250F9BD}"/>
              </a:ext>
            </a:extLst>
          </p:cNvPr>
          <p:cNvSpPr>
            <a:spLocks noGrp="1"/>
          </p:cNvSpPr>
          <p:nvPr>
            <p:ph type="title"/>
          </p:nvPr>
        </p:nvSpPr>
        <p:spPr>
          <a:xfrm>
            <a:off x="685801" y="685800"/>
            <a:ext cx="10396882" cy="656303"/>
          </a:xfrm>
        </p:spPr>
        <p:txBody>
          <a:bodyPr>
            <a:normAutofit/>
          </a:bodyPr>
          <a:lstStyle/>
          <a:p>
            <a:r>
              <a:rPr lang="en-IN" sz="2000" cap="none" dirty="0">
                <a:latin typeface="Arial Black" panose="020B0A04020102020204" pitchFamily="34" charset="0"/>
              </a:rPr>
              <a:t>Orders Trend On Days: </a:t>
            </a:r>
            <a:r>
              <a:rPr lang="en-IN" sz="1600" cap="none" dirty="0">
                <a:latin typeface="Arial Narrow" panose="020B0606020202030204" pitchFamily="34" charset="0"/>
              </a:rPr>
              <a:t>Here we see that between days 20 and 25, the highest no. Orders are placed.</a:t>
            </a:r>
            <a:endParaRPr lang="en-IN" sz="3200"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A1A3F2B1-344A-372C-FFFA-B2EC1F46B905}"/>
              </a:ext>
            </a:extLst>
          </p:cNvPr>
          <p:cNvPicPr>
            <a:picLocks noGrp="1" noChangeAspect="1"/>
          </p:cNvPicPr>
          <p:nvPr>
            <p:ph sz="quarter" idx="13"/>
          </p:nvPr>
        </p:nvPicPr>
        <p:blipFill>
          <a:blip r:embed="rId2"/>
          <a:stretch>
            <a:fillRect/>
          </a:stretch>
        </p:blipFill>
        <p:spPr>
          <a:xfrm>
            <a:off x="1809135" y="1342104"/>
            <a:ext cx="7620000" cy="4173794"/>
          </a:xfrm>
          <a:prstGeom prst="rect">
            <a:avLst/>
          </a:prstGeom>
        </p:spPr>
      </p:pic>
    </p:spTree>
    <p:extLst>
      <p:ext uri="{BB962C8B-B14F-4D97-AF65-F5344CB8AC3E}">
        <p14:creationId xmlns:p14="http://schemas.microsoft.com/office/powerpoint/2010/main" val="383213615"/>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EF91D-1937-E23C-0043-074839D8AAA8}"/>
              </a:ext>
            </a:extLst>
          </p:cNvPr>
          <p:cNvSpPr>
            <a:spLocks noGrp="1"/>
          </p:cNvSpPr>
          <p:nvPr>
            <p:ph type="title"/>
          </p:nvPr>
        </p:nvSpPr>
        <p:spPr>
          <a:xfrm>
            <a:off x="685801" y="685800"/>
            <a:ext cx="10396882" cy="796925"/>
          </a:xfrm>
        </p:spPr>
        <p:txBody>
          <a:bodyPr>
            <a:normAutofit/>
          </a:bodyPr>
          <a:lstStyle/>
          <a:p>
            <a:r>
              <a:rPr lang="en-IN" sz="2000" cap="none" dirty="0">
                <a:latin typeface="Arial Black" panose="020B0A04020102020204" pitchFamily="34" charset="0"/>
              </a:rPr>
              <a:t>The factors like ratings, price range, delivery time and total cost are displayed by A scatter plot:</a:t>
            </a:r>
          </a:p>
        </p:txBody>
      </p:sp>
      <p:pic>
        <p:nvPicPr>
          <p:cNvPr id="5" name="Content Placeholder 4">
            <a:extLst>
              <a:ext uri="{FF2B5EF4-FFF2-40B4-BE49-F238E27FC236}">
                <a16:creationId xmlns:a16="http://schemas.microsoft.com/office/drawing/2014/main" id="{18E9143E-FCC4-3E51-FE37-5233F976A0A0}"/>
              </a:ext>
            </a:extLst>
          </p:cNvPr>
          <p:cNvPicPr>
            <a:picLocks noGrp="1" noChangeAspect="1"/>
          </p:cNvPicPr>
          <p:nvPr>
            <p:ph sz="quarter" idx="13"/>
          </p:nvPr>
        </p:nvPicPr>
        <p:blipFill>
          <a:blip r:embed="rId2"/>
          <a:stretch>
            <a:fillRect/>
          </a:stretch>
        </p:blipFill>
        <p:spPr>
          <a:xfrm>
            <a:off x="2497394" y="1641987"/>
            <a:ext cx="6479458" cy="3844413"/>
          </a:xfrm>
          <a:prstGeom prst="rect">
            <a:avLst/>
          </a:prstGeom>
        </p:spPr>
      </p:pic>
    </p:spTree>
    <p:extLst>
      <p:ext uri="{BB962C8B-B14F-4D97-AF65-F5344CB8AC3E}">
        <p14:creationId xmlns:p14="http://schemas.microsoft.com/office/powerpoint/2010/main" val="1747171289"/>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0483F-BA94-AD9A-7899-C6C90F9833E7}"/>
              </a:ext>
            </a:extLst>
          </p:cNvPr>
          <p:cNvSpPr>
            <a:spLocks noGrp="1"/>
          </p:cNvSpPr>
          <p:nvPr>
            <p:ph type="title"/>
          </p:nvPr>
        </p:nvSpPr>
        <p:spPr/>
        <p:txBody>
          <a:bodyPr>
            <a:normAutofit/>
          </a:bodyPr>
          <a:lstStyle/>
          <a:p>
            <a:r>
              <a:rPr lang="en-IN" sz="1600" cap="none" dirty="0">
                <a:latin typeface="Arial Black" panose="020B0A04020102020204" pitchFamily="34" charset="0"/>
              </a:rPr>
              <a:t>Top 5 Restaurants: Top 5 restaurants identified by total revenue generated by each restaurant.</a:t>
            </a:r>
            <a:endParaRPr lang="en-IN" sz="1600"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36584472-97EB-300F-1477-406AB4DF5F1A}"/>
              </a:ext>
            </a:extLst>
          </p:cNvPr>
          <p:cNvPicPr>
            <a:picLocks noGrp="1" noChangeAspect="1"/>
          </p:cNvPicPr>
          <p:nvPr>
            <p:ph sz="quarter" idx="13"/>
          </p:nvPr>
        </p:nvPicPr>
        <p:blipFill>
          <a:blip r:embed="rId2"/>
          <a:stretch>
            <a:fillRect/>
          </a:stretch>
        </p:blipFill>
        <p:spPr>
          <a:xfrm>
            <a:off x="2644877" y="1837765"/>
            <a:ext cx="6216366" cy="3707629"/>
          </a:xfrm>
          <a:prstGeom prst="rect">
            <a:avLst/>
          </a:prstGeom>
        </p:spPr>
      </p:pic>
    </p:spTree>
    <p:extLst>
      <p:ext uri="{BB962C8B-B14F-4D97-AF65-F5344CB8AC3E}">
        <p14:creationId xmlns:p14="http://schemas.microsoft.com/office/powerpoint/2010/main" val="125049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A1BAE-B215-047C-712E-2AA17D18DF09}"/>
              </a:ext>
            </a:extLst>
          </p:cNvPr>
          <p:cNvSpPr>
            <a:spLocks noGrp="1"/>
          </p:cNvSpPr>
          <p:nvPr>
            <p:ph type="title"/>
          </p:nvPr>
        </p:nvSpPr>
        <p:spPr>
          <a:xfrm>
            <a:off x="685801" y="685801"/>
            <a:ext cx="10396882" cy="597310"/>
          </a:xfrm>
        </p:spPr>
        <p:txBody>
          <a:bodyPr>
            <a:normAutofit/>
          </a:bodyPr>
          <a:lstStyle/>
          <a:p>
            <a:r>
              <a:rPr lang="en-IN" sz="2000" cap="none" dirty="0">
                <a:latin typeface="Arial Black" panose="020B0A04020102020204" pitchFamily="34" charset="0"/>
              </a:rPr>
              <a:t>Total revenue generated by each area and city:</a:t>
            </a:r>
          </a:p>
        </p:txBody>
      </p:sp>
      <p:pic>
        <p:nvPicPr>
          <p:cNvPr id="5" name="Content Placeholder 4">
            <a:extLst>
              <a:ext uri="{FF2B5EF4-FFF2-40B4-BE49-F238E27FC236}">
                <a16:creationId xmlns:a16="http://schemas.microsoft.com/office/drawing/2014/main" id="{8DB0D3AF-3208-2FB4-251B-67B686960D26}"/>
              </a:ext>
            </a:extLst>
          </p:cNvPr>
          <p:cNvPicPr>
            <a:picLocks noGrp="1" noChangeAspect="1"/>
          </p:cNvPicPr>
          <p:nvPr>
            <p:ph sz="quarter" idx="13"/>
          </p:nvPr>
        </p:nvPicPr>
        <p:blipFill>
          <a:blip r:embed="rId2"/>
          <a:stretch>
            <a:fillRect/>
          </a:stretch>
        </p:blipFill>
        <p:spPr>
          <a:xfrm>
            <a:off x="2438400" y="1283111"/>
            <a:ext cx="6420465" cy="4291779"/>
          </a:xfrm>
          <a:prstGeom prst="rect">
            <a:avLst/>
          </a:prstGeom>
        </p:spPr>
      </p:pic>
    </p:spTree>
    <p:extLst>
      <p:ext uri="{BB962C8B-B14F-4D97-AF65-F5344CB8AC3E}">
        <p14:creationId xmlns:p14="http://schemas.microsoft.com/office/powerpoint/2010/main" val="3515153695"/>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C0B59-186E-F08A-8C75-A9FD9F81F146}"/>
              </a:ext>
            </a:extLst>
          </p:cNvPr>
          <p:cNvSpPr>
            <a:spLocks noGrp="1"/>
          </p:cNvSpPr>
          <p:nvPr>
            <p:ph type="title"/>
          </p:nvPr>
        </p:nvSpPr>
        <p:spPr>
          <a:xfrm>
            <a:off x="685801" y="685800"/>
            <a:ext cx="10396882" cy="797615"/>
          </a:xfrm>
        </p:spPr>
        <p:txBody>
          <a:bodyPr>
            <a:normAutofit/>
          </a:bodyPr>
          <a:lstStyle/>
          <a:p>
            <a:r>
              <a:rPr lang="en-IN" sz="2000" cap="none" dirty="0">
                <a:latin typeface="Arial Black" panose="020B0A04020102020204" pitchFamily="34" charset="0"/>
              </a:rPr>
              <a:t>No. of orders in each cities:</a:t>
            </a:r>
          </a:p>
        </p:txBody>
      </p:sp>
      <p:pic>
        <p:nvPicPr>
          <p:cNvPr id="5" name="Content Placeholder 4">
            <a:extLst>
              <a:ext uri="{FF2B5EF4-FFF2-40B4-BE49-F238E27FC236}">
                <a16:creationId xmlns:a16="http://schemas.microsoft.com/office/drawing/2014/main" id="{E0B30E90-B298-7538-766F-47ED93606774}"/>
              </a:ext>
            </a:extLst>
          </p:cNvPr>
          <p:cNvPicPr>
            <a:picLocks noGrp="1" noChangeAspect="1"/>
          </p:cNvPicPr>
          <p:nvPr>
            <p:ph sz="quarter" idx="13"/>
          </p:nvPr>
        </p:nvPicPr>
        <p:blipFill>
          <a:blip r:embed="rId2"/>
          <a:stretch>
            <a:fillRect/>
          </a:stretch>
        </p:blipFill>
        <p:spPr>
          <a:xfrm>
            <a:off x="2743200" y="1483415"/>
            <a:ext cx="5928852" cy="4052146"/>
          </a:xfrm>
          <a:prstGeom prst="rect">
            <a:avLst/>
          </a:prstGeom>
        </p:spPr>
      </p:pic>
    </p:spTree>
    <p:extLst>
      <p:ext uri="{BB962C8B-B14F-4D97-AF65-F5344CB8AC3E}">
        <p14:creationId xmlns:p14="http://schemas.microsoft.com/office/powerpoint/2010/main" val="3257164473"/>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660EE-5B03-4FA7-33B8-81574C373E4C}"/>
              </a:ext>
            </a:extLst>
          </p:cNvPr>
          <p:cNvSpPr>
            <a:spLocks noGrp="1"/>
          </p:cNvSpPr>
          <p:nvPr>
            <p:ph type="title"/>
          </p:nvPr>
        </p:nvSpPr>
        <p:spPr>
          <a:xfrm>
            <a:off x="685801" y="685800"/>
            <a:ext cx="10396882" cy="631723"/>
          </a:xfrm>
        </p:spPr>
        <p:txBody>
          <a:bodyPr>
            <a:normAutofit fontScale="90000"/>
          </a:bodyPr>
          <a:lstStyle/>
          <a:p>
            <a:r>
              <a:rPr lang="en-IN" sz="2000" cap="none" dirty="0">
                <a:latin typeface="Arial Black" panose="020B0A04020102020204" pitchFamily="34" charset="0"/>
              </a:rPr>
              <a:t>Total Cost and Total revenue generated for the period, and Quarterly trend:</a:t>
            </a:r>
          </a:p>
        </p:txBody>
      </p:sp>
      <p:pic>
        <p:nvPicPr>
          <p:cNvPr id="5" name="Content Placeholder 4">
            <a:extLst>
              <a:ext uri="{FF2B5EF4-FFF2-40B4-BE49-F238E27FC236}">
                <a16:creationId xmlns:a16="http://schemas.microsoft.com/office/drawing/2014/main" id="{EC6290BC-412A-29B8-EAE9-98E3BE5D3441}"/>
              </a:ext>
            </a:extLst>
          </p:cNvPr>
          <p:cNvPicPr>
            <a:picLocks noGrp="1" noChangeAspect="1"/>
          </p:cNvPicPr>
          <p:nvPr>
            <p:ph sz="quarter" idx="13"/>
          </p:nvPr>
        </p:nvPicPr>
        <p:blipFill>
          <a:blip r:embed="rId2"/>
          <a:stretch>
            <a:fillRect/>
          </a:stretch>
        </p:blipFill>
        <p:spPr>
          <a:xfrm>
            <a:off x="2576051" y="1317524"/>
            <a:ext cx="6056671" cy="4057752"/>
          </a:xfrm>
          <a:prstGeom prst="rect">
            <a:avLst/>
          </a:prstGeom>
        </p:spPr>
      </p:pic>
    </p:spTree>
    <p:extLst>
      <p:ext uri="{BB962C8B-B14F-4D97-AF65-F5344CB8AC3E}">
        <p14:creationId xmlns:p14="http://schemas.microsoft.com/office/powerpoint/2010/main" val="2906573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B20BBB7-9E7A-06E2-F67A-BECCD197F2BF}"/>
              </a:ext>
            </a:extLst>
          </p:cNvPr>
          <p:cNvPicPr>
            <a:picLocks noGrp="1" noChangeAspect="1"/>
          </p:cNvPicPr>
          <p:nvPr>
            <p:ph sz="quarter" idx="13"/>
          </p:nvPr>
        </p:nvPicPr>
        <p:blipFill>
          <a:blip r:embed="rId2"/>
          <a:stretch>
            <a:fillRect/>
          </a:stretch>
        </p:blipFill>
        <p:spPr>
          <a:xfrm>
            <a:off x="570271" y="275303"/>
            <a:ext cx="10766323" cy="5240594"/>
          </a:xfrm>
          <a:prstGeom prst="rect">
            <a:avLst/>
          </a:prstGeom>
        </p:spPr>
      </p:pic>
    </p:spTree>
    <p:extLst>
      <p:ext uri="{BB962C8B-B14F-4D97-AF65-F5344CB8AC3E}">
        <p14:creationId xmlns:p14="http://schemas.microsoft.com/office/powerpoint/2010/main" val="58241784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E065348-97AA-53AB-3F52-374071BD2264}"/>
              </a:ext>
            </a:extLst>
          </p:cNvPr>
          <p:cNvSpPr>
            <a:spLocks noGrp="1"/>
          </p:cNvSpPr>
          <p:nvPr>
            <p:ph type="body" sz="half" idx="2"/>
          </p:nvPr>
        </p:nvSpPr>
        <p:spPr>
          <a:xfrm>
            <a:off x="693642" y="685800"/>
            <a:ext cx="10465971" cy="4688785"/>
          </a:xfrm>
        </p:spPr>
        <p:txBody>
          <a:bodyPr>
            <a:normAutofit/>
          </a:bodyPr>
          <a:lstStyle/>
          <a:p>
            <a:r>
              <a:rPr lang="en-IN" cap="none" dirty="0">
                <a:solidFill>
                  <a:srgbClr val="C00000"/>
                </a:solidFill>
                <a:latin typeface="Arial Black" panose="020B0A04020102020204" pitchFamily="34" charset="0"/>
              </a:rPr>
              <a:t>Dashboard</a:t>
            </a:r>
          </a:p>
          <a:p>
            <a:pPr algn="l"/>
            <a:r>
              <a:rPr lang="en-IN" sz="1400" cap="none" dirty="0">
                <a:latin typeface="Arial" panose="020B0604020202020204" pitchFamily="34" charset="0"/>
                <a:cs typeface="Arial" panose="020B0604020202020204" pitchFamily="34" charset="0"/>
              </a:rPr>
              <a:t>This Dashboard represents,</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Total Cost for the period, total revenue generated for the period.</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 Quarterly revenue comparison.</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The Bar chart indicates the Top 5 restaurants that generate higher revenue. </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 There is a trend analysis on days displayed through a line chart.</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Here is the Tree map that shows the areas of the city that generate higher revenue.</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Again, there is a map that represents the number of restaurants each city has, and which city has the highest no. orders.</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A pie chart represents no. of orders in each City.</a:t>
            </a:r>
          </a:p>
          <a:p>
            <a:pPr marL="285750" indent="-285750" algn="l">
              <a:buFont typeface="Arial" panose="020B0604020202020204" pitchFamily="34" charset="0"/>
              <a:buChar char="•"/>
            </a:pPr>
            <a:r>
              <a:rPr lang="en-IN" sz="1400" cap="none" dirty="0">
                <a:latin typeface="Arial" panose="020B0604020202020204" pitchFamily="34" charset="0"/>
                <a:cs typeface="Arial" panose="020B0604020202020204" pitchFamily="34" charset="0"/>
              </a:rPr>
              <a:t>This scatter plot displays how various factors like ratings, price range, total cost and delivery time affect the no. of orders customer palaces.</a:t>
            </a:r>
          </a:p>
          <a:p>
            <a:pPr algn="l"/>
            <a:endParaRPr lang="en-IN" dirty="0"/>
          </a:p>
        </p:txBody>
      </p:sp>
    </p:spTree>
    <p:extLst>
      <p:ext uri="{BB962C8B-B14F-4D97-AF65-F5344CB8AC3E}">
        <p14:creationId xmlns:p14="http://schemas.microsoft.com/office/powerpoint/2010/main" val="241105085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33BCDB4-B074-B3A8-EF1A-76F1F69E9839}"/>
              </a:ext>
            </a:extLst>
          </p:cNvPr>
          <p:cNvSpPr>
            <a:spLocks noGrp="1"/>
          </p:cNvSpPr>
          <p:nvPr>
            <p:ph type="title"/>
          </p:nvPr>
        </p:nvSpPr>
        <p:spPr/>
        <p:txBody>
          <a:bodyPr>
            <a:normAutofit/>
          </a:bodyPr>
          <a:lstStyle/>
          <a:p>
            <a:r>
              <a:rPr lang="en-IN" sz="5400" dirty="0"/>
              <a:t>Thank You!</a:t>
            </a:r>
          </a:p>
        </p:txBody>
      </p:sp>
    </p:spTree>
    <p:extLst>
      <p:ext uri="{BB962C8B-B14F-4D97-AF65-F5344CB8AC3E}">
        <p14:creationId xmlns:p14="http://schemas.microsoft.com/office/powerpoint/2010/main" val="1971004258"/>
      </p:ext>
    </p:extLst>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TM04033927[[fn=Main Event]]</Template>
  <TotalTime>1941</TotalTime>
  <Words>335</Words>
  <Application>Microsoft Office PowerPoint</Application>
  <PresentationFormat>Widescreen</PresentationFormat>
  <Paragraphs>25</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 Narrow</vt:lpstr>
      <vt:lpstr>Arial</vt:lpstr>
      <vt:lpstr>Arial Black</vt:lpstr>
      <vt:lpstr>Arial Narrow</vt:lpstr>
      <vt:lpstr>Impact</vt:lpstr>
      <vt:lpstr>Main Event</vt:lpstr>
      <vt:lpstr>Zomato Orders &amp; Restaurant Analysis</vt:lpstr>
      <vt:lpstr>PowerPoint Presentation</vt:lpstr>
      <vt:lpstr>Number of restaurants in each city:  Here we can see that the highest number of restaurants are in Mumbai i.e 3384.</vt:lpstr>
      <vt:lpstr>No. Of Orders In Each City:</vt:lpstr>
      <vt:lpstr>Orders Trend On Days: Here we see that between days 20 and 25, the highest no. Orders are placed.</vt:lpstr>
      <vt:lpstr>The factors like ratings, price range, delivery time and total cost are displayed by A scatter plot:</vt:lpstr>
      <vt:lpstr>Top 5 Restaurants: Top 5 restaurants identified by total revenue generated by each restaurant.</vt:lpstr>
      <vt:lpstr>Total revenue generated by each area and city:</vt:lpstr>
      <vt:lpstr>No. of orders in each cities:</vt:lpstr>
      <vt:lpstr>Total Cost and Total revenue generated for the period, and Quarterly trend:</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Nahid Ansari</dc:creator>
  <cp:lastModifiedBy>Nahid Ansari</cp:lastModifiedBy>
  <cp:revision>14</cp:revision>
  <dcterms:created xsi:type="dcterms:W3CDTF">2026-03-17T10:05:53Z</dcterms:created>
  <dcterms:modified xsi:type="dcterms:W3CDTF">2026-03-19T11:28:52Z</dcterms:modified>
</cp:coreProperties>
</file>